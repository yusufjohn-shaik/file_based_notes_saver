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fba689-a10c-5fa3-9a72-bfff6541004f}">
          <p14:sldIdLst>
            <p14:sldId id="256"/>
            <p14:sldId id="257"/>
            <p14:sldId id="258"/>
          </p14:sldIdLst>
        </p14:section>
        <p14:section name="Design" id="{6b108183-3350-35a7-d45f-016505ed3125}">
          <p14:sldIdLst>
            <p14:sldId id="259"/>
            <p14:sldId id="260"/>
            <p14:sldId id="261"/>
            <p14:sldId id="262"/>
          </p14:sldIdLst>
        </p14:section>
        <p14:section name="Code Walkthrough" id="{5c92f7b1-6b45-6a23-943f-87fb99d5b10b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Live Output" id="{08437a79-c551-0232-edac-e9bd3f0fa854}">
          <p14:sldIdLst>
            <p14:sldId id="273"/>
            <p14:sldId id="274"/>
            <p14:sldId id="275"/>
            <p14:sldId id="276"/>
          </p14:sldIdLst>
        </p14:section>
        <p14:section name="Testing and Wrap-up" id="{a921cfb6-3444-26d7-a00d-2e754b9f2677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C"/>
                </a:solidFill>
              </a:rPr>
              <a:t>File Based Notes Saver  |  Review 2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64008" cy="17373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D3C4"/>
                </a:solidFill>
              </a:rPr>
              <a:t>CORNERSTONE PROJECT  |  REVIEW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FILE BASED NOTES SAVER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D3C4"/>
                </a:solidFill>
              </a:rPr>
              <a:t>Review 2: Implementation Progress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D8"/>
                </a:solidFill>
              </a:rPr>
              <a:t>Aditya University, Department of CSE   |   Guide: Dr. Hari Jyothula, Assistant Professor</a:t>
            </a:r>
            <a:endParaRPr lang="en-US" sz="1100" dirty="0"/>
          </a:p>
        </p:txBody>
      </p:sp>
      <p:sp>
        <p:nvSpPr>
          <p:cNvPr id="7" name="Member card"/>
          <p:cNvSpPr/>
          <p:nvPr/>
        </p:nvSpPr>
        <p:spPr>
          <a:xfrm>
            <a:off x="457200" y="3566160"/>
            <a:ext cx="1947672" cy="777240"/>
          </a:xfrm>
          <a:prstGeom prst="rect">
            <a:avLst/>
          </a:prstGeom>
          <a:solidFill>
            <a:srgbClr val="1B3D63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Tammana Pramodh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7D8"/>
                </a:solidFill>
              </a:rPr>
              <a:t>25B11CS938</a:t>
            </a:r>
            <a:endParaRPr lang="en-US" sz="1200" dirty="0"/>
          </a:p>
        </p:txBody>
      </p:sp>
      <p:sp>
        <p:nvSpPr>
          <p:cNvPr id="9" name="Member card"/>
          <p:cNvSpPr/>
          <p:nvPr/>
        </p:nvSpPr>
        <p:spPr>
          <a:xfrm>
            <a:off x="2542032" y="3566160"/>
            <a:ext cx="1947672" cy="777240"/>
          </a:xfrm>
          <a:prstGeom prst="rect">
            <a:avLst/>
          </a:prstGeom>
          <a:solidFill>
            <a:srgbClr val="1B3D6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679192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Krishna Sriya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7D8"/>
                </a:solidFill>
              </a:rPr>
              <a:t>25B11CS919</a:t>
            </a:r>
            <a:endParaRPr lang="en-US" sz="1200" dirty="0"/>
          </a:p>
        </p:txBody>
      </p:sp>
      <p:sp>
        <p:nvSpPr>
          <p:cNvPr id="11" name="Member card"/>
          <p:cNvSpPr/>
          <p:nvPr/>
        </p:nvSpPr>
        <p:spPr>
          <a:xfrm>
            <a:off x="4626864" y="3566160"/>
            <a:ext cx="1947672" cy="777240"/>
          </a:xfrm>
          <a:prstGeom prst="rect">
            <a:avLst/>
          </a:prstGeom>
          <a:solidFill>
            <a:srgbClr val="1B3D63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764024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Helena Grace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7D8"/>
                </a:solidFill>
              </a:rPr>
              <a:t>25B11CS925</a:t>
            </a:r>
            <a:endParaRPr lang="en-US" sz="1200" dirty="0"/>
          </a:p>
        </p:txBody>
      </p:sp>
      <p:sp>
        <p:nvSpPr>
          <p:cNvPr id="13" name="Member card"/>
          <p:cNvSpPr/>
          <p:nvPr/>
        </p:nvSpPr>
        <p:spPr>
          <a:xfrm>
            <a:off x="6711696" y="3566160"/>
            <a:ext cx="1947672" cy="777240"/>
          </a:xfrm>
          <a:prstGeom prst="rect">
            <a:avLst/>
          </a:prstGeom>
          <a:solidFill>
            <a:srgbClr val="1B3D6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48856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Shaik Yusuf John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7D8"/>
                </a:solidFill>
              </a:rPr>
              <a:t>25B11CS893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8B9C"/>
                </a:solidFill>
              </a:rPr>
              <a:t>PROJECT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AGENDA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We Will Cover (Review 2 Rubric)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Rubric item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Where in this deck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Demonstrate completed modules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Slides 3–7 and live demo (slides 18–21)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Explain code / functions with outputs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Slides 8–21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Relevant C++ concepts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Slide 23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Presentation and individual contribution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Slide 24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OVERVIEW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 Recap</a:t>
            </a:r>
            <a:endParaRPr lang="en-US" sz="2400" dirty="0"/>
          </a:p>
        </p:txBody>
      </p:sp>
      <p:sp>
        <p:nvSpPr>
          <p:cNvPr id="4" name="Label chip"/>
          <p:cNvSpPr/>
          <p:nvPr/>
        </p:nvSpPr>
        <p:spPr>
          <a:xfrm>
            <a:off x="457200" y="1234440"/>
            <a:ext cx="1417320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Row card"/>
          <p:cNvSpPr/>
          <p:nvPr/>
        </p:nvSpPr>
        <p:spPr>
          <a:xfrm>
            <a:off x="1874520" y="1234440"/>
            <a:ext cx="6812280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57400" y="12344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Scattered paper notes and cloud apps risk data loss, privacy and need internet.</a:t>
            </a:r>
            <a:endParaRPr lang="en-US" sz="1300" dirty="0"/>
          </a:p>
        </p:txBody>
      </p:sp>
      <p:sp>
        <p:nvSpPr>
          <p:cNvPr id="8" name="Label chip"/>
          <p:cNvSpPr/>
          <p:nvPr/>
        </p:nvSpPr>
        <p:spPr>
          <a:xfrm>
            <a:off x="457200" y="1911096"/>
            <a:ext cx="1417320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11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10" name="Row card"/>
          <p:cNvSpPr/>
          <p:nvPr/>
        </p:nvSpPr>
        <p:spPr>
          <a:xfrm>
            <a:off x="1874520" y="1911096"/>
            <a:ext cx="6812280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57400" y="191109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offline, menu-driven C++ note manager that stores notes in a local text file.</a:t>
            </a:r>
            <a:endParaRPr lang="en-US" sz="1300" dirty="0"/>
          </a:p>
        </p:txBody>
      </p:sp>
      <p:sp>
        <p:nvSpPr>
          <p:cNvPr id="12" name="Label chip"/>
          <p:cNvSpPr/>
          <p:nvPr/>
        </p:nvSpPr>
        <p:spPr>
          <a:xfrm>
            <a:off x="457200" y="2587752"/>
            <a:ext cx="1417320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5877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FEATURES</a:t>
            </a:r>
            <a:endParaRPr lang="en-US" sz="1100" dirty="0"/>
          </a:p>
        </p:txBody>
      </p:sp>
      <p:sp>
        <p:nvSpPr>
          <p:cNvPr id="14" name="Row card"/>
          <p:cNvSpPr/>
          <p:nvPr/>
        </p:nvSpPr>
        <p:spPr>
          <a:xfrm>
            <a:off x="1874520" y="2587752"/>
            <a:ext cx="6812280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57400" y="258775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Create, view, edit, delete, search, sort, categorize, backup and restore.</a:t>
            </a:r>
            <a:endParaRPr lang="en-US" sz="1300" dirty="0"/>
          </a:p>
        </p:txBody>
      </p:sp>
      <p:sp>
        <p:nvSpPr>
          <p:cNvPr id="16" name="Label chip"/>
          <p:cNvSpPr/>
          <p:nvPr/>
        </p:nvSpPr>
        <p:spPr>
          <a:xfrm>
            <a:off x="457200" y="3264408"/>
            <a:ext cx="1417320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BUILT WITH</a:t>
            </a:r>
            <a:endParaRPr lang="en-US" sz="1100" dirty="0"/>
          </a:p>
        </p:txBody>
      </p:sp>
      <p:sp>
        <p:nvSpPr>
          <p:cNvPr id="18" name="Row card"/>
          <p:cNvSpPr/>
          <p:nvPr/>
        </p:nvSpPr>
        <p:spPr>
          <a:xfrm>
            <a:off x="1874520" y="3264408"/>
            <a:ext cx="6812280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326440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Object-Oriented Programming (OOP): 8 independent classes plus a Utils helper namespace.</a:t>
            </a:r>
            <a:endParaRPr lang="en-US" sz="1300" dirty="0"/>
          </a:p>
        </p:txBody>
      </p:sp>
      <p:sp>
        <p:nvSpPr>
          <p:cNvPr id="20" name="Label chip"/>
          <p:cNvSpPr/>
          <p:nvPr/>
        </p:nvSpPr>
        <p:spPr>
          <a:xfrm>
            <a:off x="457200" y="3941064"/>
            <a:ext cx="1417320" cy="56692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9410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STATUS</a:t>
            </a:r>
            <a:endParaRPr lang="en-US" sz="1100" dirty="0"/>
          </a:p>
        </p:txBody>
      </p:sp>
      <p:sp>
        <p:nvSpPr>
          <p:cNvPr id="22" name="Row card"/>
          <p:cNvSpPr/>
          <p:nvPr/>
        </p:nvSpPr>
        <p:spPr>
          <a:xfrm>
            <a:off x="1874520" y="3941064"/>
            <a:ext cx="6812280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057400" y="39410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2: all modules implemented, compiled and tested.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DESIGN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 Structure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folder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based notes saver/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include/   *.h   (9 header files)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     *.cpp (9 modules + main.cpp)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    test_runner.cpp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Makefile, CMakeLists.txt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build.bat, run.bat, run.md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notes.txt         (live data file)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notes_backup.txt  (backup copy)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94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944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module has a header (.h) with the interface and a source (.cpp) with the implementation.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426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426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426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 with Make, CMake, or the Windows batch scripts.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308152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308152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308152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Compiled with g++ -std=c++17 -Wall -Wextra and no warnings.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7368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7368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7368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lives in plain text, so it can be read and debugged easily.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DESIGN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How the Modules Work Together</a:t>
            </a:r>
            <a:endParaRPr lang="en-US" sz="2400" dirty="0"/>
          </a:p>
        </p:txBody>
      </p:sp>
      <p:sp>
        <p:nvSpPr>
          <p:cNvPr id="4" name="Flow box 1"/>
          <p:cNvSpPr/>
          <p:nvPr/>
        </p:nvSpPr>
        <p:spPr>
          <a:xfrm>
            <a:off x="457200" y="1280160"/>
            <a:ext cx="118872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load notes.txt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Flow box 2"/>
          <p:cNvSpPr/>
          <p:nvPr/>
        </p:nvSpPr>
        <p:spPr>
          <a:xfrm>
            <a:off x="1865376" y="1280160"/>
            <a:ext cx="118872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2322576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2257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Main menu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(UI)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Flow box 3"/>
          <p:cNvSpPr/>
          <p:nvPr/>
        </p:nvSpPr>
        <p:spPr>
          <a:xfrm>
            <a:off x="3273552" y="1280160"/>
            <a:ext cx="118872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3730752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3075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InputValidator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checks choice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Flow box 4"/>
          <p:cNvSpPr/>
          <p:nvPr/>
        </p:nvSpPr>
        <p:spPr>
          <a:xfrm>
            <a:off x="4681728" y="1280160"/>
            <a:ext cx="1188720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Shape 18"/>
          <p:cNvSpPr/>
          <p:nvPr/>
        </p:nvSpPr>
        <p:spPr>
          <a:xfrm>
            <a:off x="5138928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3892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NoteManager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SearchEngine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NoteSorter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BackupManager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70448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Flow box 5"/>
          <p:cNvSpPr/>
          <p:nvPr/>
        </p:nvSpPr>
        <p:spPr>
          <a:xfrm>
            <a:off x="6089904" y="1280160"/>
            <a:ext cx="118872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6547104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4710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FileManager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saves on change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Flow box 6"/>
          <p:cNvSpPr/>
          <p:nvPr/>
        </p:nvSpPr>
        <p:spPr>
          <a:xfrm>
            <a:off x="7498080" y="1280160"/>
            <a:ext cx="118872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13898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552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1737360"/>
            <a:ext cx="1115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Show result,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back to menu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457200" y="3154680"/>
            <a:ext cx="4023360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Card accent"/>
          <p:cNvSpPr/>
          <p:nvPr/>
        </p:nvSpPr>
        <p:spPr>
          <a:xfrm>
            <a:off x="457200" y="3154680"/>
            <a:ext cx="54864" cy="10972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5" name="Takeaway 1"/>
          <p:cNvSpPr txBox="1"/>
          <p:nvPr/>
        </p:nvSpPr>
        <p:spPr>
          <a:xfrm>
            <a:off x="640080" y="3154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UI never touches files directly; it only calls NoteManager, SearchEngine, NoteSorter and BackupManager.</a:t>
            </a:r>
            <a:endParaRPr lang="en-US" sz="1250" dirty="0"/>
          </a:p>
        </p:txBody>
      </p:sp>
      <p:sp>
        <p:nvSpPr>
          <p:cNvPr id="36" name="Card"/>
          <p:cNvSpPr/>
          <p:nvPr/>
        </p:nvSpPr>
        <p:spPr>
          <a:xfrm>
            <a:off x="4663440" y="3154680"/>
            <a:ext cx="4023360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Card accent"/>
          <p:cNvSpPr/>
          <p:nvPr/>
        </p:nvSpPr>
        <p:spPr>
          <a:xfrm>
            <a:off x="4663440" y="3154680"/>
            <a:ext cx="54864" cy="10972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" name="Takeaway 2"/>
          <p:cNvSpPr txBox="1"/>
          <p:nvPr/>
        </p:nvSpPr>
        <p:spPr>
          <a:xfrm>
            <a:off x="4846320" y="3154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Any change (create, edit, delete, restore) is saved to notes.txt immediately.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DESIGN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Module Status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286000"/>
                <a:gridCol w="11887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Files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 model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FileManager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FileManager.h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File input/output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NoteManager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NoteManager.h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CRUD and IDs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SearchEngine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SearchEngine.h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Search, categories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NoteSorter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NoteSorter.h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Sorting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InputValidator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InputValidator.h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Safe input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BackupManager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BackupManager.h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Backup, restore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UI + Utils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UI, Utils .h / .cpp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Menu, helpers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DESIGN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File Format (notes.txt)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[NOTE_START]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C++ File Handling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Programming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CREATED: 26-09-2026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 I learned about ifstream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ofstream.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CONTENT_END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[NOTE_END]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Tag-delimited and human-readable.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note sits between [NOTE_START] and [NOTE_END].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70052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70052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70052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Content can span many lines, closed by CONTENT_END.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35584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35584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35584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serialize() writes this block; deserialize() reads it 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NOTE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Note: The Data Model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Note.h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title;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content;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category;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createdDate;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Note(int id, const std::string&amp; title,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const std::string&amp; content,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const std::string&amp; category,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const std::string&amp; createdDate);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getId() const;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displaySummary() const;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displayFull() const;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Fields are private (encapsulation).</a:t>
            </a:r>
            <a:endParaRPr lang="en-US" sz="1150" dirty="0"/>
          </a:p>
        </p:txBody>
      </p:sp>
      <p:sp>
        <p:nvSpPr>
          <p:cNvPr id="15" name="Card"/>
          <p:cNvSpPr/>
          <p:nvPr/>
        </p:nvSpPr>
        <p:spPr>
          <a:xfrm>
            <a:off x="6172200" y="2029333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29333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29333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Default constructor sets category to "General".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6172200" y="2668778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668778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668778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Parameterized constructor uses an initializer list.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6172200" y="3308223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308223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308223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Getters are const so they cannot modify the object.</a:t>
            </a:r>
            <a:endParaRPr lang="en-US" sz="1150" dirty="0"/>
          </a:p>
        </p:txBody>
      </p:sp>
      <p:sp>
        <p:nvSpPr>
          <p:cNvPr id="24" name="Card"/>
          <p:cNvSpPr/>
          <p:nvPr/>
        </p:nvSpPr>
        <p:spPr>
          <a:xfrm>
            <a:off x="6172200" y="3947668"/>
            <a:ext cx="2514600" cy="73056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Card accent"/>
          <p:cNvSpPr/>
          <p:nvPr/>
        </p:nvSpPr>
        <p:spPr>
          <a:xfrm>
            <a:off x="6172200" y="3947668"/>
            <a:ext cx="54864" cy="73056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Point 5"/>
          <p:cNvSpPr txBox="1"/>
          <p:nvPr/>
        </p:nvSpPr>
        <p:spPr>
          <a:xfrm>
            <a:off x="6336792" y="3947668"/>
            <a:ext cx="2276856" cy="73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displaySummary() shows one colored line; displayFull() shows the whole note.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NOTE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Note: serialize() and deserialize()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Note::serialize(std::ostream&amp; os) const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"[NOTE_START]\n";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"ID: " &lt;&lt; id &lt;&lt; "\n";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"TITLE: " &lt;&lt; title &lt;&lt; "\n";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"CATEGORY: " &lt;&lt; category &lt;&lt; "\n";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"CREATED: " &lt;&lt; createdDate &lt;&lt; "\n";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 &lt;&lt; "CONTENT_START\n" &lt;&lt;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&lt;&lt; "\nCONTENT_END\n[NOTE_END]\n";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deserialize(): reads line by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(std::getline(is, line))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(trimmed == "[NOTE_START]") inNote 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(trimmed == "[NOTE_END]") return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(trimmed.rfind("ID: ", 0) ==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parsedId = std::stoi(...);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serialize() takes any ostream, so it works for files and tests alike.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235708"/>
            <a:ext cx="2514600" cy="94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235708"/>
            <a:ext cx="54864" cy="944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235708"/>
            <a:ext cx="227685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deserialize() is static: it fills a Note from the stream and returns true when a full note was read.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327202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327202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327202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rfind(prefix, 0) checks the line starts with a tag.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9273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9273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9273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std::stoi is wrapped in try/catch so bad IDs do not crash the program.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FILEMANAGER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FileManager: File Input/Output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FileManager.cpp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FileManager::loadNotes(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std::string&amp; filepath,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std::vector&lt;Note&gt;&amp; notes,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std::string&amp; errorMessage)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notes.clear();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std::ifstream inFile(filepath.c_str());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 note;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(Note::deserialize(inFile, note))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notes.push_back(note);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saveNotes():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std::ofstream outFile(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filepath.c_str(), std::ios::trunc);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for (const auto&amp; note : notes)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note.serialize(outFile);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Static utility class: no objects needed.</a:t>
            </a:r>
            <a:endParaRPr lang="en-US" sz="1150" dirty="0"/>
          </a:p>
        </p:txBody>
      </p:sp>
      <p:sp>
        <p:nvSpPr>
          <p:cNvPr id="15" name="Card"/>
          <p:cNvSpPr/>
          <p:nvPr/>
        </p:nvSpPr>
        <p:spPr>
          <a:xfrm>
            <a:off x="6172200" y="2029333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29333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29333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Reads with std::ifstream, writes with std::ofstream.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6172200" y="2668778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668778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668778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std::ios::trunc rewrites the whole file on every save.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6172200" y="3308223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308223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308223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Errors come back through an errorMessage reference parameter.</a:t>
            </a:r>
            <a:endParaRPr lang="en-US" sz="1150" dirty="0"/>
          </a:p>
        </p:txBody>
      </p:sp>
      <p:sp>
        <p:nvSpPr>
          <p:cNvPr id="24" name="Card"/>
          <p:cNvSpPr/>
          <p:nvPr/>
        </p:nvSpPr>
        <p:spPr>
          <a:xfrm>
            <a:off x="6172200" y="3947668"/>
            <a:ext cx="2514600" cy="548005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Card accent"/>
          <p:cNvSpPr/>
          <p:nvPr/>
        </p:nvSpPr>
        <p:spPr>
          <a:xfrm>
            <a:off x="6172200" y="3947668"/>
            <a:ext cx="54864" cy="54800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Point 5"/>
          <p:cNvSpPr txBox="1"/>
          <p:nvPr/>
        </p:nvSpPr>
        <p:spPr>
          <a:xfrm>
            <a:off x="6336792" y="3947668"/>
            <a:ext cx="227685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Also provides fileExists(), copyFile() and getFileSize().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NOTEMANAGER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NoteManager: Create Note and Unique ID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NoteManager.cpp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NoteManager::generateNextId() const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maxId = 1023;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auto&amp; note : notes)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(note.getId() &gt; maxId)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maxId = note.getId();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maxId + 1;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NoteManager::createNote(...)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 = generateNextId();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date = Utils::getCurrentDate();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cat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category.empty() ? "General" : category;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 note(id, title, content, cat, date);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notes.push_back(note);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saveNotes(err);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94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944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IDs start at 1024 and always go one above the current maximum, so they stay unique even after deletes.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426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426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426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date is taken from the system clock.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308152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308152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308152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empty category defaults to "General".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73684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73684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73684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note is saved to disk immediately after being added.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NOTEMANAGER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NoteManager: Edit and Delete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NoteManager.cpp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NoteManager::deleteNote(int id,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std::string&amp; errorMessage)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 it = std::find_if(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notes.begin(), notes.end(),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[id](const Note&amp; n)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n.getId() == id;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(it != notes.end())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notes.erase(it);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saveNotes(errorMessage);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errorMessage = "Note with ID " +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std::to_string(id) + " not found.";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std::find_if with a lambda locates the note by ID.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erase() removes it from the vector, then the file is rewritten.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89102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89102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89102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updateNote() only changes fields the user typed, so pressing Enter keeps the old value.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7368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7368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7368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IDs return false with a clear error message instead of crashing.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SEARCHENGINE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SearchEngine: Keyword Search and Categories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SearchEngine.cpp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std::vector&lt;Note&gt; SearchEngine::searchByKeyword(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std::vector&lt;Note&gt;&amp; notes,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std::string&amp; keyword)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std::vector&lt;Note&gt; results;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key = Utils::trim(keyword);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(key.empty()) return results;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auto&amp; note : notes)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(Utils::caseInsensitiveFind(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note.getTitle(), key) ||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Utils::caseInsensitiveFind(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note.getContent(), key) ||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Utils::caseInsensitiveFind(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note.getCategory(), key))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results.push_back(note);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Searches title, content and category in one pass.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caseInsensitiveFind() lower-cases both strings, then uses find().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89102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89102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89102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getCategoryCounts() returns a std::map of category to note count.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7368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7368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7368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getAllCategories() uses a std::set so each category appears once, sorted.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NOTESORTER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NoteSorter: Sorting with Lambdas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NoteSorter.cpp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NoteSorter::sortByTitle(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std::vector&lt;Note&gt;&amp; notes, bool ascending)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std::sort(notes.begin(), notes.end(),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[ascending](const Note&amp; a, const Note&amp; b)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std::string ta = Utils::toLower(a.getTitle());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std::string tb = Utils::toLower(b.getTitle());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(ta != tb)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ascending ? (ta &lt; tb) : (ta &gt; tb);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ascending ? (a.getId() &lt; b.getId())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: (a.getId() &gt; b.getId());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lambda comparator per field: Title, Date, Category, ID.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lambda captures the ascending flag.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70052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70052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70052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Ties are broken by ID so the order is always stable and predictable.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5463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5463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5463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sortNotes() uses a switch on the SortField enum to pick the right function.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INPUTVALIDATOR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InputValidator: No Crashes on Bad Input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InputValidator.cpp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InputValidator::getString(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std::string&amp; prompt, bool allowEmpty)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input;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(true)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prompt;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(!std::getline(std::cin, input))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(std::cin.eof()) std::exit(0);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trimmed = Utils::trim(input);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(allowEmpty || !trimmed.empty())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trimmed;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printError("Input cannot be empty.");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Loops until the input is valid, so the menu never breaks.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getInt() checks the entry is numeric and within a range.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70052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70052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70052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getMultilineContent() reads until the user types END.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35584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35584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35584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Handles end-of-file cleanly with a polite exit.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6172200" y="401116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Card accent"/>
          <p:cNvSpPr/>
          <p:nvPr/>
        </p:nvSpPr>
        <p:spPr>
          <a:xfrm>
            <a:off x="6172200" y="401116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Point 5"/>
          <p:cNvSpPr txBox="1"/>
          <p:nvPr/>
        </p:nvSpPr>
        <p:spPr>
          <a:xfrm>
            <a:off x="6336792" y="401116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Also has printError / printWarning helpers with colors.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BACKUPMANAGER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BackupManager: Backup and Restore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BackupManager.cpp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BackupManager::createBackup(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std::string&amp; statusMessage)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(!FileManager::fileExists(defaultSourceFile))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statusMessage = "Nothing to backup.";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(!FileManager::copyFile(defaultSourceFile,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defaultBackupFile, err))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statusMessage = "Backup creation failed: " + err;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statusMessage = "Backup created successfully!";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Copies notes.txt to notes_backup.txt using FileManager::copyFile().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23570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23570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23570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restoreBackup() copies in the other direction, after user confirmation in the UI.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3081527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3081527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3081527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a restore, NoteManager reloads notes so memory matches the file.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92734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92734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92734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failure path returns a readable message.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CODE WALKTHROUGH  |  UI AND MAIN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UI and main(): Putting It Together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5486400" cy="3611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548640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400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NoteManager manager("notes.txt",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"notes_backup.txt");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loadError;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(!manager.loadNotes(loadError))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InputValidator::printWarning(loadError);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 ui(manager);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ui.run();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(const std::exception&amp; ex)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InputValidator::printError(ex.what());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0972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KEY POINTS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172200" y="138988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 accent"/>
          <p:cNvSpPr/>
          <p:nvPr/>
        </p:nvSpPr>
        <p:spPr>
          <a:xfrm>
            <a:off x="6172200" y="138988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Point 1"/>
          <p:cNvSpPr txBox="1"/>
          <p:nvPr/>
        </p:nvSpPr>
        <p:spPr>
          <a:xfrm>
            <a:off x="6336792" y="138988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main() creates one NoteManager and hands it to the UI.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72200" y="2045208"/>
            <a:ext cx="2514600" cy="563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 accent"/>
          <p:cNvSpPr/>
          <p:nvPr/>
        </p:nvSpPr>
        <p:spPr>
          <a:xfrm>
            <a:off x="6172200" y="2045208"/>
            <a:ext cx="54864" cy="563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Point 2"/>
          <p:cNvSpPr txBox="1"/>
          <p:nvPr/>
        </p:nvSpPr>
        <p:spPr>
          <a:xfrm>
            <a:off x="6336792" y="2045208"/>
            <a:ext cx="227685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Notes are loaded from the file at startup.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270052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6172200" y="270052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Point 3"/>
          <p:cNvSpPr txBox="1"/>
          <p:nvPr/>
        </p:nvSpPr>
        <p:spPr>
          <a:xfrm>
            <a:off x="6336792" y="270052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ui.run() shows the 11-option menu and calls a handler for each choice.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3546348"/>
            <a:ext cx="2514600" cy="7543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6172200" y="3546348"/>
            <a:ext cx="54864" cy="754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oint 4"/>
          <p:cNvSpPr txBox="1"/>
          <p:nvPr/>
        </p:nvSpPr>
        <p:spPr>
          <a:xfrm>
            <a:off x="6336792" y="3546348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try/catch makes sure unexpected errors end the program safely.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LIVE OUTPUT  |  1 OF 4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Output 1: Menu and View All Notes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246888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246888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menu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21792" y="1527048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Note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All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Note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Note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Note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250" dirty="0"/>
          </a:p>
        </p:txBody>
      </p:sp>
      <p:sp>
        <p:nvSpPr>
          <p:cNvPr id="11" name="Code panel"/>
          <p:cNvSpPr/>
          <p:nvPr/>
        </p:nvSpPr>
        <p:spPr>
          <a:xfrm>
            <a:off x="3063240" y="1097280"/>
            <a:ext cx="562356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Panel header"/>
          <p:cNvSpPr/>
          <p:nvPr/>
        </p:nvSpPr>
        <p:spPr>
          <a:xfrm>
            <a:off x="3063240" y="1097280"/>
            <a:ext cx="562356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13" name="Shape 11"/>
          <p:cNvSpPr/>
          <p:nvPr/>
        </p:nvSpPr>
        <p:spPr>
          <a:xfrm>
            <a:off x="319125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670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350215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03320" y="1097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all notes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3227832" y="1527048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ALL NOTES</a:t>
            </a:r>
            <a:r>
              <a:rPr lang="en-US" sz="12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Notes: 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[1024]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File Handling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(Programming)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[1025]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OOP Concepts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(Programming)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[1026]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DSA Practice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(College)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[1027]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Portfolio Project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(Projects)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[1028]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Startup Ideas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(Ideas)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[1029]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Research Papers to Read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(Research)</a:t>
            </a:r>
            <a:r>
              <a:rPr lang="en-US" sz="12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- 26-09-2026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3977639"/>
            <a:ext cx="822960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45720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akeaway 1"/>
          <p:cNvSpPr txBox="1"/>
          <p:nvPr/>
        </p:nvSpPr>
        <p:spPr>
          <a:xfrm>
            <a:off x="640080" y="3977639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Real output from the compiled program. Notes load from notes.txt at startup (6 notes found).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LIVE OUTPUT  |  2 OF 4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Output 2: Search and Categories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402336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402336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notes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21792" y="1527048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NOTES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search keyword: </a:t>
            </a: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Results: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[1025]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OOP Concepts</a:t>
            </a:r>
            <a:endParaRPr lang="en-US" sz="1300" dirty="0"/>
          </a:p>
        </p:txBody>
      </p:sp>
      <p:sp>
        <p:nvSpPr>
          <p:cNvPr id="11" name="Code panel"/>
          <p:cNvSpPr/>
          <p:nvPr/>
        </p:nvSpPr>
        <p:spPr>
          <a:xfrm>
            <a:off x="4663440" y="1097280"/>
            <a:ext cx="402336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Panel header"/>
          <p:cNvSpPr/>
          <p:nvPr/>
        </p:nvSpPr>
        <p:spPr>
          <a:xfrm>
            <a:off x="4663440" y="1097280"/>
            <a:ext cx="402336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1455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46903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1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4828031" y="1527048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CATEGORIES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College       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note)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         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note)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Programming   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notes)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      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note)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     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note)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45720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akeaway 1"/>
          <p:cNvSpPr txBox="1"/>
          <p:nvPr/>
        </p:nvSpPr>
        <p:spPr>
          <a:xfrm>
            <a:off x="64008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Searching "oop" matches the note even though the title says "OOP" in capitals: the search ignores case.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466344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466344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akeaway 2"/>
          <p:cNvSpPr txBox="1"/>
          <p:nvPr/>
        </p:nvSpPr>
        <p:spPr>
          <a:xfrm>
            <a:off x="484632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Categories screen shows each distinct category with its note count.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LIVE OUTPUT  |  3 OF 4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Output 3: Sort and Backup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420624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420624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notes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21792" y="1527048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NOTES</a:t>
            </a: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(by Title, Ascending)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[1028]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Startup Ideas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(Ideas)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[1026]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DSA Practice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(College)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[1024]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File Handling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(Programming)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[1025]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OOP Concepts</a:t>
            </a:r>
            <a:r>
              <a:rPr lang="en-US" sz="130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(Programming)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[1029]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Research Papers to Read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[1027]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Portfolio Project</a:t>
            </a:r>
            <a:endParaRPr lang="en-US" sz="1300" dirty="0"/>
          </a:p>
        </p:txBody>
      </p:sp>
      <p:sp>
        <p:nvSpPr>
          <p:cNvPr id="11" name="Code panel"/>
          <p:cNvSpPr/>
          <p:nvPr/>
        </p:nvSpPr>
        <p:spPr>
          <a:xfrm>
            <a:off x="4846320" y="1097280"/>
            <a:ext cx="384048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Panel header"/>
          <p:cNvSpPr/>
          <p:nvPr/>
        </p:nvSpPr>
        <p:spPr>
          <a:xfrm>
            <a:off x="4846320" y="1097280"/>
            <a:ext cx="384048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13" name="Shape 11"/>
          <p:cNvSpPr/>
          <p:nvPr/>
        </p:nvSpPr>
        <p:spPr>
          <a:xfrm>
            <a:off x="497433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9783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1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0" y="1097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notes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5010912" y="152704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NOTES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you sure ... backup? [Y/N]: </a:t>
            </a: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7E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Success: Backup created successfully!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Location: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notes_backup.txt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Timestamp: </a:t>
            </a: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06-10-2026 15:09:34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45720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45720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akeaway 1"/>
          <p:cNvSpPr txBox="1"/>
          <p:nvPr/>
        </p:nvSpPr>
        <p:spPr>
          <a:xfrm>
            <a:off x="64008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Sorting asks for the field, then the order, then whether to save the new order.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466344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466344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akeaway 2"/>
          <p:cNvSpPr txBox="1"/>
          <p:nvPr/>
        </p:nvSpPr>
        <p:spPr>
          <a:xfrm>
            <a:off x="484632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Backup asks for confirmation first, then shows the location and a timestamp.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LIVE OUTPUT  |  4 OF 4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Output 4: Input Validation in Action</a:t>
            </a:r>
            <a:endParaRPr lang="en-US" sz="2400" dirty="0"/>
          </a:p>
        </p:txBody>
      </p:sp>
      <p:sp>
        <p:nvSpPr>
          <p:cNvPr id="4" name="Code panel"/>
          <p:cNvSpPr/>
          <p:nvPr/>
        </p:nvSpPr>
        <p:spPr>
          <a:xfrm>
            <a:off x="457200" y="1097280"/>
            <a:ext cx="402336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Panel header"/>
          <p:cNvSpPr/>
          <p:nvPr/>
        </p:nvSpPr>
        <p:spPr>
          <a:xfrm>
            <a:off x="457200" y="1097280"/>
            <a:ext cx="402336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menu input</a:t>
            </a:r>
            <a:endParaRPr lang="en-US" sz="1100" dirty="0"/>
          </a:p>
        </p:txBody>
      </p:sp>
      <p:sp>
        <p:nvSpPr>
          <p:cNvPr id="10" name="Code text"/>
          <p:cNvSpPr txBox="1"/>
          <p:nvPr/>
        </p:nvSpPr>
        <p:spPr>
          <a:xfrm>
            <a:off x="621792" y="1527048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Input cannot be empty.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Please enter a number.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 category number (or 0 to return):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Invalid choice! Please enter 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number between 0 and 5.</a:t>
            </a:r>
            <a:endParaRPr lang="en-US" sz="1150" dirty="0"/>
          </a:p>
        </p:txBody>
      </p:sp>
      <p:sp>
        <p:nvSpPr>
          <p:cNvPr id="11" name="Code panel"/>
          <p:cNvSpPr/>
          <p:nvPr/>
        </p:nvSpPr>
        <p:spPr>
          <a:xfrm>
            <a:off x="4663440" y="1097280"/>
            <a:ext cx="402336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Panel header"/>
          <p:cNvSpPr/>
          <p:nvPr/>
        </p:nvSpPr>
        <p:spPr>
          <a:xfrm>
            <a:off x="4663440" y="1097280"/>
            <a:ext cx="4023360" cy="310896"/>
          </a:xfrm>
          <a:prstGeom prst="rect">
            <a:avLst/>
          </a:prstGeom>
          <a:solidFill>
            <a:srgbClr val="1B3D6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1455" y="1207007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46903" y="1207007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1" y="1207007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ID / confirmation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4828031" y="1527048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Note ID to view full content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 0 to return):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Note ID 8 not found.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you sure ... [Y/N]: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Invalid confirmation input!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Please enter [Y/N].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accent"/>
          <p:cNvSpPr/>
          <p:nvPr/>
        </p:nvSpPr>
        <p:spPr>
          <a:xfrm>
            <a:off x="45720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akeaway 1"/>
          <p:cNvSpPr txBox="1"/>
          <p:nvPr/>
        </p:nvSpPr>
        <p:spPr>
          <a:xfrm>
            <a:off x="64008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Empty input, out-of-range numbers, unknown IDs and bad Y/N answers are all caught.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4663440" y="3977639"/>
            <a:ext cx="402336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accent"/>
          <p:cNvSpPr/>
          <p:nvPr/>
        </p:nvSpPr>
        <p:spPr>
          <a:xfrm>
            <a:off x="4663440" y="3977639"/>
            <a:ext cx="54864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akeaway 2"/>
          <p:cNvSpPr txBox="1"/>
          <p:nvPr/>
        </p:nvSpPr>
        <p:spPr>
          <a:xfrm>
            <a:off x="4846320" y="3977639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program shows an error and asks again instead of crashing.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TESTING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Testing: Automated Test Suite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457200" y="1234440"/>
            <a:ext cx="2651760" cy="3246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FD3C4"/>
                </a:solidFill>
              </a:rPr>
              <a:t>6 / 6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tests passed, 0 failed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234440"/>
          <a:ext cx="53492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What it checks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testNoteModel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Getters, setters, serialize round trip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testFileManager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Save, load, copy, file exists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testNoteManagerCRUD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Create, update, delete, unique IDs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testSearchEngine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Keyword and category search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testNoteSorter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four fields, both orders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testBackupAndRestore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Backup, change, restore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C++ CONCEPTS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C++ Concepts Used and Where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577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Concept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Where it is used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Classes and objects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 module classes; Note objects in a vector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Encapsulation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Note: private fields, public getters/setters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Abstraction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UI calls NoteManager without knowing file details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Constructors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Note default and parameterized; default file paths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Static utility classes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FileManager, SearchEngine, NoteSorter, InputValidator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Composition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NoteManager has a BackupManager; UI has a NoteManager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STL containers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vector, map, set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Lambdas and algorithms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std::sort comparators, std::find_if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File streams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ifstream, ofstream, ios::trunc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Exception handling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try/catch in main(); safe stoi parsing</a:t>
                      </a:r>
                      <a:endParaRPr lang="en-US" sz="105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TEAM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Individual Contribution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Team member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Roll number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Modules / work done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Tammana Pramodh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25B11CS938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6"/>
                          </a:solidFill>
                        </a:rPr>
                        <a:t>(fill in)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Krishna Sriya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25B11CS919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6"/>
                          </a:solidFill>
                        </a:rPr>
                        <a:t>(fill in)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Helena Grace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25B11CS925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6"/>
                          </a:solidFill>
                        </a:rPr>
                        <a:t>(fill in)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Shaik Yusuf John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25B11CS893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6"/>
                          </a:solidFill>
                        </a:rPr>
                        <a:t>(fill in)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37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WRAP-UP</a:t>
            </a:r>
            <a:endParaRPr lang="en-US" sz="105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Summary and Next Steps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5394960" cy="69494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Card accent"/>
          <p:cNvSpPr/>
          <p:nvPr/>
        </p:nvSpPr>
        <p:spPr>
          <a:xfrm>
            <a:off x="457200" y="1234440"/>
            <a:ext cx="54864" cy="6949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39903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58368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3444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 8 modules plus Utils are implemented and working together.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5394960" cy="69494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0" name="Card accent"/>
          <p:cNvSpPr/>
          <p:nvPr/>
        </p:nvSpPr>
        <p:spPr>
          <a:xfrm>
            <a:off x="457200" y="2057400"/>
            <a:ext cx="54864" cy="6949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" y="222199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8368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5740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Notes persist across runs in a readable text file.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457200" y="2880360"/>
            <a:ext cx="5394960" cy="69494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5" name="Card accent"/>
          <p:cNvSpPr/>
          <p:nvPr/>
        </p:nvSpPr>
        <p:spPr>
          <a:xfrm>
            <a:off x="457200" y="2880360"/>
            <a:ext cx="54864" cy="6949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8368" y="304495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8368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803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Search, sort, categories, backup and restore all work with validated input.</a:t>
            </a:r>
            <a:endParaRPr lang="en-US" sz="1250" dirty="0"/>
          </a:p>
        </p:txBody>
      </p:sp>
      <p:sp>
        <p:nvSpPr>
          <p:cNvPr id="19" name="Card"/>
          <p:cNvSpPr/>
          <p:nvPr/>
        </p:nvSpPr>
        <p:spPr>
          <a:xfrm>
            <a:off x="457200" y="3703320"/>
            <a:ext cx="5394960" cy="69494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0" name="Card accent"/>
          <p:cNvSpPr/>
          <p:nvPr/>
        </p:nvSpPr>
        <p:spPr>
          <a:xfrm>
            <a:off x="457200" y="3703320"/>
            <a:ext cx="54864" cy="6949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" y="386791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836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0332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of 6 automated tests pass; the code compiles with no warnings.</a:t>
            </a:r>
            <a:endParaRPr lang="en-US" sz="1250" dirty="0"/>
          </a:p>
        </p:txBody>
      </p:sp>
      <p:sp>
        <p:nvSpPr>
          <p:cNvPr id="24" name="Next steps card"/>
          <p:cNvSpPr/>
          <p:nvPr/>
        </p:nvSpPr>
        <p:spPr>
          <a:xfrm>
            <a:off x="6080760" y="1234440"/>
            <a:ext cx="2606040" cy="316382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</a:rPr>
              <a:t>NEXT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Final report, code and output screens, final review.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D3C4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9C"/>
                </a:solidFill>
              </a:rPr>
              <a:t>File Based Notes Saver  |  Review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es Saver Study">
  <a:themeElements>
    <a:clrScheme name="Notes Saver Study">
      <a:dk1>
        <a:srgbClr val="1B2733"/>
      </a:dk1>
      <a:lt1>
        <a:srgbClr val="FFFFFF"/>
      </a:lt1>
      <a:dk2>
        <a:srgbClr val="0F2742"/>
      </a:dk2>
      <a:lt2>
        <a:srgbClr val="F1F5F9"/>
      </a:lt2>
      <a:accent1>
        <a:srgbClr val="14998B"/>
      </a:accent1>
      <a:accent2>
        <a:srgbClr val="E3A43A"/>
      </a:accent2>
      <a:accent3>
        <a:srgbClr val="4A78B5"/>
      </a:accent3>
      <a:accent4>
        <a:srgbClr val="E0675F"/>
      </a:accent4>
      <a:accent5>
        <a:srgbClr val="4CB782"/>
      </a:accent5>
      <a:accent6>
        <a:srgbClr val="7C8B9C"/>
      </a:accent6>
      <a:hlink>
        <a:srgbClr val="14998B"/>
      </a:hlink>
      <a:folHlink>
        <a:srgbClr val="7C8B9C"/>
      </a:folHlink>
    </a:clrScheme>
    <a:fontScheme name="Notes Saver Stud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Based Notes Saver - Review 2</dc:title>
  <dc:subject>PptxGenJS Presentation</dc:subject>
  <dc:creator>Cornerstone Project Team</dc:creator>
  <cp:lastModifiedBy>Cornerstone Project Team</cp:lastModifiedBy>
  <cp:revision>1</cp:revision>
  <dcterms:created xsi:type="dcterms:W3CDTF">2026-10-06T15:49:46Z</dcterms:created>
  <dcterms:modified xsi:type="dcterms:W3CDTF">2026-10-06T15:49:46Z</dcterms:modified>
</cp:coreProperties>
</file>